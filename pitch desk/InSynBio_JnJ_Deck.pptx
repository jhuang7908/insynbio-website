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1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365760"/>
            <a:ext cx="5120640" cy="5120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2926080"/>
            <a:ext cx="2926080" cy="2926080"/>
          </a:xfrm>
          <a:prstGeom prst="ellipse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0" y="3474720"/>
            <a:ext cx="2194560" cy="2194560"/>
          </a:xfrm>
          <a:prstGeom prst="ellipse">
            <a:avLst/>
          </a:prstGeom>
          <a:solidFill>
            <a:srgbClr val="14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6858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Clinical-Anchored AI for
Antibody Drug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5EEAD4"/>
                </a:solidFill>
                <a:latin typeface="Calibri"/>
              </a:rPr>
              <a:t>A non-confidential capabilities overview for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EEAD4"/>
                </a:solidFill>
                <a:latin typeface="Georgia"/>
              </a:rPr>
              <a:t>InSynBio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AI-Driven Antibody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17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alibri"/>
              </a:rPr>
              <a:t>jhuang@genomab.com  ·  insynbio.com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NON-CONFIDENTIAL  —  For initial evaluation purposes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Calibri"/>
              </a:rPr>
              <a:t>01  |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AI Antibodies Can Bind — But Can They Become Drugs?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1828800"/>
            <a:ext cx="3566160" cy="42519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35661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371600" cy="475488"/>
          </a:xfrm>
          <a:prstGeom prst="roundRect">
            <a:avLst>
              <a:gd name="adj" fmla="val 4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Affinity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Current de novo AI achieves sub-nanomolar binding to virtually any antigen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3566160" cy="42519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828800"/>
            <a:ext cx="35661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07992" y="1920240"/>
            <a:ext cx="1371600" cy="475488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✗ Unsolved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74320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Developability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Aggregation propensity, thermal stability, viscosity, solubility under manufacturing conditions.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3" y="1828800"/>
            <a:ext cx="3566160" cy="425196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30183" y="1828800"/>
            <a:ext cx="35661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67343" y="1920240"/>
            <a:ext cx="1371600" cy="475488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✗ Unsolved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3" y="274320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Immunogenicity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3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ADA (anti-drug antibody) risk prediction — absent from most current AI design pipelines.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199632"/>
            <a:ext cx="11548872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1996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Good affinity is necessary but not sufficient for a clinical candidate.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Calibri"/>
              </a:rPr>
              <a:t>02  |  The Reference Frame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What You Optimize Against Defines What You Get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828800"/>
            <a:ext cx="530352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5303520" cy="475488"/>
          </a:xfrm>
          <a:prstGeom prst="rect">
            <a:avLst/>
          </a:prstGeom>
          <a:solidFill>
            <a:srgbClr val="7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653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Current Industry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029200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Reference frame: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Natural human immunoglobulin repertoire (OAS)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sz="1300" b="0">
              <a:solidFill>
                <a:srgbClr val="F1F5F9"/>
              </a:solidFill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Optimization target: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"Naturalness" — similarity to germ-line sequences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sz="1300" b="0">
              <a:solidFill>
                <a:srgbClr val="F1F5F9"/>
              </a:solidFill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Implicit assumption: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Natural antibodies ≈ good drug candidates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sz="1300" b="0">
              <a:solidFill>
                <a:srgbClr val="F1F5F9"/>
              </a:solidFill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EF4444"/>
                </a:solidFill>
                <a:latin typeface="Calibri"/>
              </a:rPr>
              <a:t>Key gap: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Natural antibodies and clinical antibody drugs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occupy different sequence/structure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474720"/>
            <a:ext cx="667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9E0B"/>
                </a:solidFill>
                <a:latin typeface="Georgia"/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65392" y="1828800"/>
            <a:ext cx="530352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65392" y="1828800"/>
            <a:ext cx="530352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02552" y="1865376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InSynBio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377440"/>
            <a:ext cx="5029200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Reference frame: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842 approved / clinical-stage antibody drugs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sz="1300" b="0">
              <a:solidFill>
                <a:srgbClr val="F1F5F9"/>
              </a:solidFill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Optimization target: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Drug-Space Compliance — does this candidate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look like a successful clinical drug?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sz="1300" b="0">
              <a:solidFill>
                <a:srgbClr val="F1F5F9"/>
              </a:solidFill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Calibri"/>
              </a:rPr>
              <a:t>Framework: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27-parameter CMC / developability atlas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calibrated on real clinical outcomes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endParaRPr sz="1300" b="0">
              <a:solidFill>
                <a:srgbClr val="F1F5F9"/>
              </a:solidFill>
              <a:latin typeface="Calibri"/>
            </a:endParaRP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Calibri"/>
              </a:rPr>
              <a:t>Result: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F1F5F9"/>
                </a:solidFill>
                <a:latin typeface="Calibri"/>
              </a:rPr>
              <a:t>Filters calibrated to the drug finish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989320"/>
            <a:ext cx="11548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94A3B8"/>
                </a:solidFill>
                <a:latin typeface="Calibri"/>
              </a:rPr>
              <a:t>Optimizing toward natural sequences moves candidates away from the clinical drug population.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03  |  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Georgia"/>
              </a:rPr>
              <a:t>Three Clinical Datasets · 27-Parameter Atlas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554480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365760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60934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Natural-384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414016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Calibri"/>
              </a:rPr>
              <a:t>FH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8346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384 fully human antibodies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2461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IgG drugs from human repertoire or
transgenic humanized sources.
Establishes the natural-origin
clinical drug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657600" cy="77724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60934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AbRef-458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2414016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1E294A"/>
                </a:solidFill>
                <a:latin typeface="Calibri"/>
              </a:rPr>
              <a:t>Engineering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8346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458 engineered antibody drugs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2461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Humanized and engineered clinical-stage
IgG therapeutics.
Captures sequence/structural properties
of optimized drug candidates.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554480"/>
            <a:ext cx="36576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19" y="1554480"/>
            <a:ext cx="3657600" cy="777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1" y="1609344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ADA-138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9911" y="2414016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36576" rIns="36576" bIns="36576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Calibri"/>
              </a:rPr>
              <a:t>Immuno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8346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138 clinical ADA-outcome drugs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32461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Antibodies with documented immunogenicity
outcomes in clinical trials.
Foundation for predictive
immunogenicity modeling.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144768"/>
            <a:ext cx="11548872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153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EEAD4"/>
                </a:solidFill>
                <a:latin typeface="Calibri"/>
              </a:rPr>
              <a:t>842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Total clinical antibodies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6153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EEAD4"/>
                </a:solidFill>
                <a:latin typeface="Calibri"/>
              </a:rPr>
              <a:t>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6492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Structural &amp; sequence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6153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EEAD4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6492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Independent validation datasets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6153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EEAD4"/>
                </a:solidFill>
                <a:latin typeface="Calibr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6492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Publicly approved drugs, real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6096000" y="1554480"/>
            <a:ext cx="5836920" cy="4617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66420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Why CDR Length Matters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Calibri"/>
              </a:rPr>
              <a:t>04  |  Key Finding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CDR Architecture: Natural vs Drug Space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75120" y="2203704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CDR loops determine epitope contacts, structural topology, and paratope geometry.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08376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Engineered clinical antibodies have systematically longer CDR loops than natural-origin antibodies — an architectural signature of therapeutic optimization.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13048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AI models trained on natural repertoires (OAS) inherit the natural-origin CDR distribution — structurally misaligned with clinical drug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390165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 dirty="0">
                <a:solidFill>
                  <a:srgbClr val="94A3B8"/>
                </a:solidFill>
                <a:latin typeface="Calibri"/>
              </a:rPr>
              <a:t>Median CDR Total Length (amino acids)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71538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Natural-384
(FH clinical)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132" y="2057400"/>
            <a:ext cx="2307357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5306" y="2057400"/>
            <a:ext cx="807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Calibri"/>
              </a:rPr>
              <a:t>49 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33472"/>
            <a:ext cx="171538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AbRef-458
(Engineered clinical)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132" y="2679192"/>
            <a:ext cx="3107869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55817" y="2679192"/>
            <a:ext cx="807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Calibri"/>
              </a:rPr>
              <a:t>66 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55264"/>
            <a:ext cx="171538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Typical AI de novo*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132" y="3300984"/>
            <a:ext cx="2448624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6572" y="3300984"/>
            <a:ext cx="807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Calibri"/>
              </a:rPr>
              <a:t>52 aa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77640"/>
            <a:ext cx="3901654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385" y="4041648"/>
            <a:ext cx="36998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Calibri"/>
              </a:rPr>
              <a:t>Effect size (Cohen's d): −4.08  —  virtually zero distributional overlap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709160"/>
            <a:ext cx="39016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4A3B8"/>
                </a:solidFill>
                <a:latin typeface="Calibri"/>
              </a:rPr>
              <a:t>* Indicative estimate based on published AI de novo benchmarks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17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Calibri"/>
              </a:rPr>
              <a:t>Drug-Space Compliance scoring flags candidates that deviate from the clinical CDR distribution before downstream developability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05  |  Key Finding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Georgia"/>
              </a:rPr>
              <a:t>Immunogenicity: Dual-Track Clinical Prediction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828800"/>
            <a:ext cx="55321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55321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FH Track  (Fully Human)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87168"/>
            <a:ext cx="1664208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52374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0.690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98648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487168"/>
            <a:ext cx="1664208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252374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2898648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Sensitivity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487168"/>
            <a:ext cx="1664208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96512" y="252374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898648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at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10128"/>
            <a:ext cx="5257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Fully human antibodies show structured ADA responses driven by:
• Interface stability (35% weight)
• Surface hydrophobicity (30% weight)
• VL germline deviation (20% weight)
Rule-out screen: 100% sensitivity means every high-ADA candidate is flagged.
Guides early-stage sequence optimization.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553212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828800"/>
            <a:ext cx="5532120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874519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HU Track  (Humanized)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487168"/>
            <a:ext cx="1664208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252374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0.505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898648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AUC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487168"/>
            <a:ext cx="1664208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1312" y="252374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9E0B"/>
                </a:solidFill>
                <a:latin typeface="Calibri"/>
              </a:rPr>
              <a:t>IST*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898648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Suppressed by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2487168"/>
            <a:ext cx="1664208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48672" y="2523744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Design QC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898648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10128"/>
            <a:ext cx="5257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Humanized antibodies: ADA signals suppressed by immunosuppressant therapy (IST).
Direct ADA prediction is not meaningful in this subset.
Instead: assess design quality via
• Vernier zone compatibility
• CDR-framework junction geometry
• Humanness of back-mutation choices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30936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4A3B8"/>
                </a:solidFill>
                <a:latin typeface="Calibri"/>
              </a:rPr>
              <a:t>* IST = immunosuppressant co-therapy, standard with most humanized biologics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Calibri"/>
              </a:rPr>
              <a:t>06  |  Key Finding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Affinity Scoring in De Novo: The Physics Paradox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82140" y="1828800"/>
            <a:ext cx="5750780" cy="4800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9385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InSynBio Multi-Scale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25146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  Drug-Space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CDR architecture + 27-param developability 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33192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2  Thermodynamic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31927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ΔΔG-based structural stability (ΔGfolding, Tm)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12394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 Reverse Physics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12394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Backbone-flexible ΔΔG scoring (overcomes rigidity paradox)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492861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  3D AI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928616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Structure-based graph neural network affinity prediction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3DACFFF-1073-E16C-94A6-A12EC68F7185}"/>
              </a:ext>
            </a:extLst>
          </p:cNvPr>
          <p:cNvGrpSpPr/>
          <p:nvPr/>
        </p:nvGrpSpPr>
        <p:grpSpPr>
          <a:xfrm>
            <a:off x="411480" y="1828800"/>
            <a:ext cx="7032929" cy="4791456"/>
            <a:chOff x="411480" y="1828800"/>
            <a:chExt cx="8363559" cy="4791456"/>
          </a:xfrm>
        </p:grpSpPr>
        <p:sp>
          <p:nvSpPr>
            <p:cNvPr id="6" name="TextBox 5"/>
            <p:cNvSpPr txBox="1"/>
            <p:nvPr/>
          </p:nvSpPr>
          <p:spPr>
            <a:xfrm>
              <a:off x="411480" y="1828800"/>
              <a:ext cx="539496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0" i="1">
                  <a:solidFill>
                    <a:srgbClr val="94A3B8"/>
                  </a:solidFill>
                  <a:latin typeface="Calibri"/>
                </a:rPr>
                <a:t>Rigid-Body Physics Scoring  ·  AUC by Scenario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1480" y="2286000"/>
              <a:ext cx="2286000" cy="713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F1F5F9"/>
                  </a:solidFill>
                  <a:latin typeface="Calibri"/>
                </a:rPr>
                <a:t>Structure-constrained
(stable epitope)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788920" y="2377440"/>
              <a:ext cx="3608679" cy="530352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89039" y="2377440"/>
              <a:ext cx="22860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F1F5F9"/>
                  </a:solidFill>
                  <a:latin typeface="Calibri"/>
                </a:rPr>
                <a:t>0.877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" y="3291840"/>
              <a:ext cx="2286000" cy="713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F1F5F9"/>
                  </a:solidFill>
                  <a:latin typeface="Calibri"/>
                </a:rPr>
                <a:t>Lead optimization
(all targets)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788920" y="3383280"/>
              <a:ext cx="1868119" cy="530352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48479" y="3383280"/>
              <a:ext cx="22860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1F5F9"/>
                  </a:solidFill>
                  <a:latin typeface="Calibri"/>
                </a:rPr>
                <a:t>0.454  ← Neg. corr.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1480" y="4297680"/>
              <a:ext cx="2286000" cy="713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F1F5F9"/>
                  </a:solidFill>
                  <a:latin typeface="Calibri"/>
                </a:rPr>
                <a:t>De novo design
(contact scoring)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788920" y="4389120"/>
              <a:ext cx="137160" cy="530352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17520" y="4389120"/>
              <a:ext cx="2286000" cy="530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1F5F9"/>
                  </a:solidFill>
                  <a:latin typeface="Calibri"/>
                </a:rPr>
                <a:t>0.03   ← Fails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11480" y="5321808"/>
              <a:ext cx="5394960" cy="1298448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6928" y="5394960"/>
              <a:ext cx="5120640" cy="384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5EEAD4"/>
                  </a:solidFill>
                  <a:latin typeface="Calibri"/>
                </a:rPr>
                <a:t>Why does this happen?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6928" y="5742432"/>
              <a:ext cx="5120640" cy="804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F1F5F9"/>
                  </a:solidFill>
                  <a:latin typeface="Calibri"/>
                </a:rPr>
                <a:t>Rigid-body physics scores assume a fixed backbone. In lead optimization the target is held rigid — scores are reliable. In de novo design, the antibody shape changes with each candidate, making rigid-body contact counting physically meaningless.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739128" y="573328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  MD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73328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Calibri"/>
              </a:rPr>
              <a:t>Molecular dynamics stability confirmation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6263640"/>
            <a:ext cx="54864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62819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Cascade improves hit rate: 74.5% → 82.4%  (+7.9 pp, 854 mutations / 6 targets)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07  | 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Georgia"/>
              </a:rPr>
              <a:t>How InSynBio Fits Your Pipeline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645920"/>
            <a:ext cx="1938528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JnJ
AI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1938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De novo generation
&amp; affinity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2316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645920"/>
            <a:ext cx="193852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691640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Drug-Space
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743200"/>
            <a:ext cx="1938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CDR architecture
+ 27-param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493008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◀ InSynBio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2316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645920"/>
            <a:ext cx="1938528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1691640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Immuno-
genicity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743200"/>
            <a:ext cx="1938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FH/HU dual-track
ADA risk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493008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◀ InSynBio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42316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645920"/>
            <a:ext cx="1938528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1691640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Multi-Scale
Cascade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743200"/>
            <a:ext cx="1938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Physics + AI
affinity cascade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493008"/>
            <a:ext cx="1755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◀ InSynBio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42316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645920"/>
            <a:ext cx="1938528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1691640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Clinical
Candidates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743200"/>
            <a:ext cx="1938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Developable,
immuno-safe leads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31920"/>
            <a:ext cx="5532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3931920"/>
            <a:ext cx="201168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0050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Early-Stage Triage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708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Score every AI-generated candidate against the clinical drug-space distribution before spending compute on structural modeling.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931920"/>
            <a:ext cx="5532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3931920"/>
            <a:ext cx="201168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0050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Immunogenicity Risk Flag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37083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Dual-track ADA prediction calibrated on 138 clinical outcomes — plugs directly into your lead selection criteria.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12079"/>
            <a:ext cx="5532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1480" y="5212079"/>
            <a:ext cx="201168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2852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Affinity Scoring Correction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50991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Replace rigid-body physics scoring with backbone-flexible cascade for de novo scenarios where standard tools fail.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212079"/>
            <a:ext cx="5532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5212079"/>
            <a:ext cx="201168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52852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Non-Competing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650991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InSynBio does not develop its own antibody sequences or algorithms. It is a downstream calibration layer for existing AI pipelines.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14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3200400"/>
            <a:ext cx="3657600" cy="3657600"/>
          </a:xfrm>
          <a:prstGeom prst="ellipse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Calibri"/>
              </a:rPr>
              <a:t>08  | 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Let's Explore Fit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627632"/>
            <a:ext cx="11274552" cy="0"/>
          </a:xfrm>
          <a:prstGeom prst="line">
            <a:avLst/>
          </a:prstGeom>
          <a:ln w="127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1480" y="1600200"/>
            <a:ext cx="5394960" cy="3611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EEAD4"/>
                </a:solidFill>
                <a:latin typeface="Calibri"/>
              </a:rPr>
              <a:t>Available now (non-confidential)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04288"/>
            <a:ext cx="2286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This overview 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71216"/>
            <a:ext cx="2286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77977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InSynBio capabilities whitepaper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438144"/>
            <a:ext cx="2286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4670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Published / public data summaries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05072"/>
            <a:ext cx="22860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9136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Technical Q&amp;A discussion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600200"/>
            <a:ext cx="5669280" cy="3611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700784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Calibri"/>
              </a:rPr>
              <a:t>Post-NDA disclosure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2304288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22128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Full 27-parameter statistical atlas with thresholds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8" y="2871216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27797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Germline usage frequency tables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3438144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47688" y="33467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ADA model feature weights &amp; calibration curves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005072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47688" y="39136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Cascade validation dataset (854 mutations)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376672"/>
            <a:ext cx="1136599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46811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Jing Huang, PhD  ·  Founder, InSynBio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43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jhuang@genomab.com  ·  www.insynbio.com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449824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Suggested next step:
Schedule a 30-min technical 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NON-CONFIDENTIAL  ·  InSynBio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1045</Words>
  <Application>Microsoft Office PowerPoint</Application>
  <PresentationFormat>宽屏</PresentationFormat>
  <Paragraphs>172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NextVivo</dc:creator>
  <cp:keywords/>
  <dc:description>generated using python-pptx</dc:description>
  <cp:lastModifiedBy>jing huang</cp:lastModifiedBy>
  <cp:revision>2</cp:revision>
  <dcterms:created xsi:type="dcterms:W3CDTF">2013-01-27T09:14:16Z</dcterms:created>
  <dcterms:modified xsi:type="dcterms:W3CDTF">2026-04-26T17:29:35Z</dcterms:modified>
  <cp:category/>
</cp:coreProperties>
</file>